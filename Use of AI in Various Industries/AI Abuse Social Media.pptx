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Ms4kbsahrKOH2jgNiKZ858k2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303520" y="24035"/>
            <a:ext cx="3840600" cy="514350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57200"/>
            <a:ext cx="219456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743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0" y="164592"/>
            <a:ext cx="201168" cy="20116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833872" y="146304"/>
            <a:ext cx="128016" cy="128016"/>
          </a:xfrm>
          <a:prstGeom prst="ellipse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686800" y="4206240"/>
            <a:ext cx="365760" cy="365760"/>
          </a:xfrm>
          <a:prstGeom prst="ellipse">
            <a:avLst/>
          </a:prstGeom>
          <a:solidFill>
            <a:srgbClr val="E63946">
              <a:alpha val="34901"/>
            </a:srgbClr>
          </a:solidFill>
          <a:ln cap="flat" cmpd="sng" w="12700">
            <a:solidFill>
              <a:srgbClr val="E6394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01168" y="347472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⚠  CASE STUDY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64592" y="71323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GONE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64592" y="171907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WRONG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01168" y="2880360"/>
            <a:ext cx="2286000" cy="3657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01168" y="2999232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The Abuse of Artificial Intelligence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in Social Media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01168" y="3931920"/>
            <a:ext cx="4846320" cy="566928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92608" y="3931920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CASE STUDY: META PLATFORMS, INC. (FACEBOOK)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TECHNOLOGY  ·  IMPLEMENTATION  ·  BENEFITS  ·  CHALLENGES  ·  ETHICS  ·  FUTURE DIRECTIONS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56032" y="0"/>
            <a:ext cx="7680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CASE STUDY: META PLATFORMS, INC.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1828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320040" y="1115568"/>
            <a:ext cx="2724912" cy="35204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" y="1115568"/>
            <a:ext cx="2724912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271016" y="1353312"/>
            <a:ext cx="822960" cy="822960"/>
          </a:xfrm>
          <a:prstGeom prst="ellipse">
            <a:avLst/>
          </a:prstGeom>
          <a:solidFill>
            <a:srgbClr val="4361EE">
              <a:alpha val="18039"/>
            </a:srgbClr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032" y="1472184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411480" y="224028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4600"/>
              <a:buFont typeface="Arial Black"/>
              <a:buNone/>
            </a:pPr>
            <a:r>
              <a:rPr b="1" i="0" lang="en-US" sz="460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3.27B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3072384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8EAF6"/>
                </a:solidFill>
                <a:latin typeface="Arial Black"/>
                <a:ea typeface="Arial Black"/>
                <a:cs typeface="Arial Black"/>
                <a:sym typeface="Arial Black"/>
              </a:rPr>
              <a:t>Daily Active Users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29768" y="3474720"/>
            <a:ext cx="25054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single largest social media company — decisions here affect nearly half the world's population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0" y="1115568"/>
            <a:ext cx="2724912" cy="35204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00400" y="1115568"/>
            <a:ext cx="2724912" cy="6400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51376" y="1353312"/>
            <a:ext cx="822960" cy="822960"/>
          </a:xfrm>
          <a:prstGeom prst="ellipse">
            <a:avLst/>
          </a:prstGeom>
          <a:solidFill>
            <a:srgbClr val="00D4FF">
              <a:alpha val="18039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9392" y="1472184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3291840" y="224028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600"/>
              <a:buFont typeface="Arial Black"/>
              <a:buNone/>
            </a:pPr>
            <a:r>
              <a:rPr b="1" i="0" lang="en-US" sz="4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$134B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91840" y="3072384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8EAF6"/>
                </a:solidFill>
                <a:latin typeface="Arial Black"/>
                <a:ea typeface="Arial Black"/>
                <a:cs typeface="Arial Black"/>
                <a:sym typeface="Arial Black"/>
              </a:rPr>
              <a:t>Annual Revenue (2023)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310128" y="3474720"/>
            <a:ext cx="25054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Entire business model is built on AI-powered data collection and behavioural targeting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80760" y="1115568"/>
            <a:ext cx="2724912" cy="35204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80760" y="1115568"/>
            <a:ext cx="2724912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031736" y="1353312"/>
            <a:ext cx="822960" cy="822960"/>
          </a:xfrm>
          <a:prstGeom prst="ellipse">
            <a:avLst/>
          </a:prstGeom>
          <a:solidFill>
            <a:srgbClr val="E63946">
              <a:alpha val="18039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9752" y="1472184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6172200" y="224028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600"/>
              <a:buFont typeface="Arial Black"/>
              <a:buNone/>
            </a:pPr>
            <a:r>
              <a:rPr b="1" i="0" lang="en-US" sz="46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2021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72200" y="3072384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8EAF6"/>
                </a:solidFill>
                <a:latin typeface="Arial Black"/>
                <a:ea typeface="Arial Black"/>
                <a:cs typeface="Arial Black"/>
                <a:sym typeface="Arial Black"/>
              </a:rPr>
              <a:t>Facebook Papers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90488" y="3474720"/>
            <a:ext cx="25054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Whistleblower Frances Haugen revealed internal proof that Meta knew AI caused harm and did little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Meta is the world’s most consequential AI deployer — and its most documented case of AI abuse.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0" y="0"/>
            <a:ext cx="3200400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228600" y="22860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META’S 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28600" y="37033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interconnected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architectures shaping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3.27B users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see and believe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383280" y="164592"/>
            <a:ext cx="2697480" cy="2212848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383280" y="164592"/>
            <a:ext cx="2697480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3474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4133088" y="347472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News Feed Algorithm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493008" y="969264"/>
            <a:ext cx="24963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Deep neural networks rank content for 3.27B users in under 200ms — predicting likes, shares, and watch time from billions of daily signals.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217920" y="164592"/>
            <a:ext cx="2697480" cy="2212848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217920" y="164592"/>
            <a:ext cx="2697480" cy="6400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3474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6967728" y="347472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2EC4B6"/>
                </a:solidFill>
                <a:latin typeface="Arial Black"/>
                <a:ea typeface="Arial Black"/>
                <a:cs typeface="Arial Black"/>
                <a:sym typeface="Arial Black"/>
              </a:rPr>
              <a:t>AI Content Moderation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327648" y="969264"/>
            <a:ext cx="24963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Computer vision (Rosetta) + NLP transformer models detect violence, CSAM, and hate speech across 50+ languages at petabyte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383280" y="2606040"/>
            <a:ext cx="2697480" cy="2212848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383280" y="2606040"/>
            <a:ext cx="2697480" cy="64008"/>
          </a:xfrm>
          <a:prstGeom prst="rect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0440" y="2788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4133088" y="2788920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B2B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6B2B"/>
                </a:solidFill>
                <a:latin typeface="Arial Black"/>
                <a:ea typeface="Arial Black"/>
                <a:cs typeface="Arial Black"/>
                <a:sym typeface="Arial Black"/>
              </a:rPr>
              <a:t>Targeted Ad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493008" y="3410712"/>
            <a:ext cx="24963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Lookalike modelling + psychographic profiling from 2,000+ data sources enables micro-targeting generating $134B in annual revenue.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217920" y="2606040"/>
            <a:ext cx="2697480" cy="2212848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217920" y="2606040"/>
            <a:ext cx="2697480" cy="640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5080" y="2788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6967728" y="2788920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Generative AI + DFDC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327648" y="3410712"/>
            <a:ext cx="24963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Meta AI assistant, AI-generated creative tools, and the Deepfake Detection Challenge — detecting the very content its platform hosts.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4480560" cy="685800"/>
          </a:xfrm>
          <a:prstGeom prst="rect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01168" y="0"/>
            <a:ext cx="42793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63440" y="0"/>
            <a:ext cx="4480560" cy="68580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754880" y="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BENEFITS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480560" y="0"/>
            <a:ext cx="182880" cy="685800"/>
          </a:xfrm>
          <a:prstGeom prst="rect">
            <a:avLst/>
          </a:prstGeom>
          <a:solidFill>
            <a:srgbClr val="06060F"/>
          </a:solidFill>
          <a:ln cap="flat" cmpd="sng" w="12700">
            <a:solidFill>
              <a:srgbClr val="0606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01168" y="82296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01168" y="822960"/>
            <a:ext cx="64008" cy="1188720"/>
          </a:xfrm>
          <a:prstGeom prst="rect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7043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960120" y="89611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2B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6B2B"/>
                </a:solidFill>
                <a:latin typeface="Arial Black"/>
                <a:ea typeface="Arial Black"/>
                <a:cs typeface="Arial Black"/>
                <a:sym typeface="Arial Black"/>
              </a:rPr>
              <a:t>Real-Time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60120" y="1261872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Rankings generated in &lt;200ms per session. PyTorch-powered GPU clusters run continuous A/B experiments across millions of users simultaneously.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01168" y="214884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01168" y="2148840"/>
            <a:ext cx="64008" cy="118872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49631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960120" y="222199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Engagement-First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60120" y="2587752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Optimisation objective: maximise time-on-platform. Internal research (Facebook Papers, 2021) showed anger-triggering content was algorithmically rewarded.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01168" y="347472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01168" y="3474720"/>
            <a:ext cx="64008" cy="1188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382219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960120" y="35478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Cross-Platform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60120" y="3913632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Unified AI infrastructure across Facebook, Instagram, WhatsApp &amp; Messenger — 3.27B daily active users, one recommendation engine.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828032" y="82296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828032" y="822960"/>
            <a:ext cx="64008" cy="118872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937760" y="896112"/>
            <a:ext cx="14173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2EC4B6"/>
                </a:solidFill>
                <a:latin typeface="Arial Black"/>
                <a:ea typeface="Arial Black"/>
                <a:cs typeface="Arial Black"/>
                <a:sym typeface="Arial Black"/>
              </a:rPr>
              <a:t>250B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446520" y="932688"/>
            <a:ext cx="27432" cy="960120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537960" y="91440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2EC4B6"/>
                </a:solidFill>
                <a:latin typeface="Arial Black"/>
                <a:ea typeface="Arial Black"/>
                <a:cs typeface="Arial Black"/>
                <a:sym typeface="Arial Black"/>
              </a:rPr>
              <a:t>Global Creator Economy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537960" y="1298448"/>
            <a:ext cx="230428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$250B market substantially enabled by AI-driven content discovery &amp; 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828032" y="214884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828032" y="2148840"/>
            <a:ext cx="64008" cy="1188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937760" y="2221992"/>
            <a:ext cx="14173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97%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446520" y="2258568"/>
            <a:ext cx="27432" cy="960120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537960" y="224028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Auto-Moderation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537960" y="2624328"/>
            <a:ext cx="230428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Hate speech removed before any user reports it, according to Meta’s own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28032" y="3474720"/>
            <a:ext cx="4114800" cy="11887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28032" y="3474720"/>
            <a:ext cx="64008" cy="1188720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937760" y="3547872"/>
            <a:ext cx="14173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026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4A026"/>
                </a:solidFill>
                <a:latin typeface="Arial Black"/>
                <a:ea typeface="Arial Black"/>
                <a:cs typeface="Arial Black"/>
                <a:sym typeface="Arial Black"/>
              </a:rPr>
              <a:t>100+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446520" y="3584448"/>
            <a:ext cx="27432" cy="960120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537960" y="356616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6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F4A026"/>
                </a:solidFill>
                <a:latin typeface="Arial Black"/>
                <a:ea typeface="Arial Black"/>
                <a:cs typeface="Arial Black"/>
                <a:sym typeface="Arial Black"/>
              </a:rPr>
              <a:t>Languages Translated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537960" y="3950208"/>
            <a:ext cx="230428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Real-time AI captioning &amp; translation enabling global accessibility for all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1005840" y="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LIMITATIONS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28600" y="987552"/>
            <a:ext cx="4251960" cy="17647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28600" y="987552"/>
            <a:ext cx="4251960" cy="54864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115214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978408" y="1097280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The Engagement Trap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291840" y="1097280"/>
            <a:ext cx="1097280" cy="502920"/>
          </a:xfrm>
          <a:prstGeom prst="rect">
            <a:avLst/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291840" y="10972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6×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38328" y="1700784"/>
            <a:ext cx="404164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Optimising for engagement algorithmically rewards fear, anger and outrage. Meta’s own ‘Facebook Papers’ confirmed this — corrective changes were blocked by revenue concerns.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690872" y="987552"/>
            <a:ext cx="4251960" cy="17647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690872" y="987552"/>
            <a:ext cx="4251960" cy="54864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115214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5440680" y="1097280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Deepfakes &amp; Synthetic Media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754112" y="1097280"/>
            <a:ext cx="1097280" cy="5029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754112" y="10972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900%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800600" y="1700784"/>
            <a:ext cx="404164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AI-generated videos, audio, and images grew 900% online between 2019–2023. Detection capabilities lag far behind generation, creating a weaponisable gap.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28600" y="2907792"/>
            <a:ext cx="4251960" cy="17647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228600" y="2907792"/>
            <a:ext cx="4251960" cy="54864"/>
          </a:xfrm>
          <a:prstGeom prst="rect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328" y="30723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978408" y="3017520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6B2B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6B2B"/>
                </a:solidFill>
                <a:latin typeface="Arial Black"/>
                <a:ea typeface="Arial Black"/>
                <a:cs typeface="Arial Black"/>
                <a:sym typeface="Arial Black"/>
              </a:rPr>
              <a:t>Moderation Inequity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91840" y="3017520"/>
            <a:ext cx="1097280" cy="502920"/>
          </a:xfrm>
          <a:prstGeom prst="rect">
            <a:avLst/>
          </a:prstGeom>
          <a:solidFill>
            <a:srgbClr val="FF6B2B">
              <a:alpha val="20000"/>
            </a:srgbClr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291840" y="3017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2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6B2B"/>
                </a:solidFill>
                <a:latin typeface="Arial Black"/>
                <a:ea typeface="Arial Black"/>
                <a:cs typeface="Arial Black"/>
                <a:sym typeface="Arial Black"/>
              </a:rPr>
              <a:t>50+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38328" y="3621024"/>
            <a:ext cx="404164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AI moderation quality collapses for low-resource languages. Ethnic minority communities and non-English speakers receive drastically inferior protection from hate speech.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690872" y="2907792"/>
            <a:ext cx="4251960" cy="17647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690872" y="2907792"/>
            <a:ext cx="425196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600" y="30723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/>
          <p:nvPr/>
        </p:nvSpPr>
        <p:spPr>
          <a:xfrm>
            <a:off x="5440680" y="3017520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Surveillance &amp; Privacy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754112" y="3017520"/>
            <a:ext cx="1097280" cy="50292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754112" y="3017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2,000+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800600" y="3621024"/>
            <a:ext cx="404164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The Meta Pixel tracks users across 2,000+ external websites per average user. AI psychographic profiling operates at scale without meaningful informed consent.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256032" y="16459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ETHICAL CONSIDERATIONS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Three philosophical frameworks applied to Meta’s AI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56032" y="731520"/>
            <a:ext cx="4114800" cy="36576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228600" y="1207008"/>
            <a:ext cx="2788920" cy="363931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28600" y="1207008"/>
            <a:ext cx="2788920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2011680" y="1298448"/>
            <a:ext cx="914400" cy="3657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011680" y="12984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38328" y="1883664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550"/>
              <a:buFont typeface="Arial Black"/>
              <a:buNone/>
            </a:pPr>
            <a:r>
              <a:rPr b="1" i="0" lang="en-US" sz="155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UTILITARIAN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38328" y="2286000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Bentham &amp; Mill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38328" y="2606040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“The greatest good for the greatest number”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38328" y="3127248"/>
            <a:ext cx="257860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Aggregate harm (adolescent mental health crisis, election interference, ethnic violence in Myanmar) outweighs benefits. Net social harm documented across multiple studies.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154680" y="1207008"/>
            <a:ext cx="2788920" cy="363931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154680" y="1207008"/>
            <a:ext cx="2788920" cy="640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696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4937760" y="1298448"/>
            <a:ext cx="914400" cy="3657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937760" y="12984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264408" y="1883664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550"/>
              <a:buFont typeface="Arial Black"/>
              <a:buNone/>
            </a:pPr>
            <a:r>
              <a:rPr b="1" i="0" lang="en-US" sz="155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DEONTOLOGICAL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264408" y="2286000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Kant’s Categorical Imperative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264408" y="2606040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“Act only on principles you could universalise”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264408" y="3127248"/>
            <a:ext cx="257860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Users are treated as means — data to be harvested, attention to be monetised. Covert surveillance and psychological micro-targeting cannot be universalised without contradiction.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080760" y="1207008"/>
            <a:ext cx="2788920" cy="363931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080760" y="1207008"/>
            <a:ext cx="2788920" cy="64008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8776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/>
          <p:nvPr/>
        </p:nvSpPr>
        <p:spPr>
          <a:xfrm>
            <a:off x="7863840" y="1298448"/>
            <a:ext cx="914400" cy="3657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863840" y="12984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190488" y="1883664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6"/>
              </a:buClr>
              <a:buSzPts val="1550"/>
              <a:buFont typeface="Arial Black"/>
              <a:buNone/>
            </a:pPr>
            <a:r>
              <a:rPr b="1" i="0" lang="en-US" sz="1550" u="none" cap="none" strike="noStrike">
                <a:solidFill>
                  <a:srgbClr val="F4A026"/>
                </a:solidFill>
                <a:latin typeface="Arial Black"/>
                <a:ea typeface="Arial Black"/>
                <a:cs typeface="Arial Black"/>
                <a:sym typeface="Arial Black"/>
              </a:rPr>
              <a:t>VIRTUE ETHICS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190488" y="2286000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Aristotelian Virtue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190488" y="2606040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“Excellence of character through right action”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190488" y="3127248"/>
            <a:ext cx="257860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‘Move fast and break things’ reflects recklessness over prudence, profit over justice, opacity over honesty. A virtuous actor does not deploy harmful systems knowingly.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0" y="0"/>
            <a:ext cx="338328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4114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228600" y="173736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SOCIETAL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IMPACT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28600" y="327355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Documented real-world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consequences of Meta’s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566160" y="137160"/>
            <a:ext cx="5303520" cy="10515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566160" y="137160"/>
            <a:ext cx="64008" cy="10515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4297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4343400" y="228600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Democratic Interference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343400" y="57607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AI micro-targeting &amp; disinformation influenced the 2016 US election, Brexit, and 2024 elections globally. Cambridge Analytica harvested 87M profiles via Meta’s API.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566160" y="1307592"/>
            <a:ext cx="5303520" cy="10515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566160" y="1307592"/>
            <a:ext cx="64008" cy="10515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/>
          <p:nvPr/>
        </p:nvSpPr>
        <p:spPr>
          <a:xfrm>
            <a:off x="4343400" y="139903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Adolescent Mental Health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343400" y="1746504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Longitudinal studies link heavy algorithmic feed use to a 40% rise in anxiety &amp; depression among teenagers. Instagram’s own research confirmed harm to girls’ body image.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566160" y="2478024"/>
            <a:ext cx="5303520" cy="10515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3566160" y="2478024"/>
            <a:ext cx="64008" cy="1051560"/>
          </a:xfrm>
          <a:prstGeom prst="rect">
            <a:avLst/>
          </a:prstGeom>
          <a:solidFill>
            <a:srgbClr val="FF6B2B"/>
          </a:solidFill>
          <a:ln cap="flat" cmpd="sng" w="12700">
            <a:solidFill>
              <a:srgbClr val="FF6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9040" y="2770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"/>
          <p:cNvSpPr/>
          <p:nvPr/>
        </p:nvSpPr>
        <p:spPr>
          <a:xfrm>
            <a:off x="4343400" y="2569464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2B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6B2B"/>
                </a:solidFill>
                <a:latin typeface="Arial Black"/>
                <a:ea typeface="Arial Black"/>
                <a:cs typeface="Arial Black"/>
                <a:sym typeface="Arial Black"/>
              </a:rPr>
              <a:t>Ethnic Violence: Myanmar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343400" y="2916936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UN Fact-Finding Mission (2018): Facebook’s algorithm played a ‘determining role’ in the Rohingya genocide by amplifying anti-Muslim hate speech.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566160" y="3648456"/>
            <a:ext cx="5303520" cy="10515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3566160" y="3648456"/>
            <a:ext cx="64008" cy="1051560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40" y="394106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4343400" y="3739896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4A026"/>
                </a:solidFill>
                <a:latin typeface="Arial Black"/>
                <a:ea typeface="Arial Black"/>
                <a:cs typeface="Arial Black"/>
                <a:sym typeface="Arial Black"/>
              </a:rPr>
              <a:t>Societal Polarisation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343400" y="408736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Recommendation algorithms create ideological ‘filter bubbles,’ reinforcing extreme views and measurably increasing political polarisation (Bail et al., 2018).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256032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FUTURE TRENDS IN AI &amp; SOCIAL MEDIA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16459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201168" y="1143000"/>
            <a:ext cx="804672" cy="5943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201168" y="1143000"/>
            <a:ext cx="804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097280" y="1371600"/>
            <a:ext cx="128016" cy="128016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1152144" y="1874520"/>
            <a:ext cx="18288" cy="566928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1371600" y="1051560"/>
            <a:ext cx="7498080" cy="859536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1252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8"/>
          <p:cNvSpPr/>
          <p:nvPr/>
        </p:nvSpPr>
        <p:spPr>
          <a:xfrm>
            <a:off x="2057400" y="11430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GenAI Content Explosion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057400" y="150876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LLMs dramatically lower cost of synthetic media production. Platforms face a tidal wave of AI-generated posts, profiles, and targeted disinformation.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01168" y="2121408"/>
            <a:ext cx="804672" cy="59436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01168" y="2121408"/>
            <a:ext cx="804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097280" y="2350008"/>
            <a:ext cx="128016" cy="128016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1152144" y="2852928"/>
            <a:ext cx="18288" cy="566928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371600" y="2029968"/>
            <a:ext cx="7498080" cy="859536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328" y="22311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/>
          <p:nvPr/>
        </p:nvSpPr>
        <p:spPr>
          <a:xfrm>
            <a:off x="2057400" y="212140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2EC4B6"/>
                </a:solidFill>
                <a:latin typeface="Arial Black"/>
                <a:ea typeface="Arial Black"/>
                <a:cs typeface="Arial Black"/>
                <a:sym typeface="Arial Black"/>
              </a:rPr>
              <a:t>EU AI Act + DSA Enforcement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057400" y="2487168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Europe mandates algorithm audits, risk assessments, and transparency for VLOPs. Non-compliance carries fines up to 6% of global revenue.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01168" y="3099816"/>
            <a:ext cx="804672" cy="5943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01168" y="3099816"/>
            <a:ext cx="804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097280" y="3328416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1152144" y="3831336"/>
            <a:ext cx="18288" cy="566928"/>
          </a:xfrm>
          <a:prstGeom prst="rect">
            <a:avLst/>
          </a:prstGeom>
          <a:solidFill>
            <a:srgbClr val="1E2A50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1371600" y="3008376"/>
            <a:ext cx="7498080" cy="859536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1328" y="320954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/>
          <p:nvPr/>
        </p:nvSpPr>
        <p:spPr>
          <a:xfrm>
            <a:off x="2057400" y="309981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Content Provenance (C2PA)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057400" y="3465576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Digital watermarking standards authenticate the origin of AI-generated content. Major platforms are piloting C2PA integration to label synthetic media.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01168" y="4078224"/>
            <a:ext cx="804672" cy="59436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201168" y="4078224"/>
            <a:ext cx="804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2027+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1097280" y="4306824"/>
            <a:ext cx="128016" cy="128016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371600" y="3986784"/>
            <a:ext cx="7498080" cy="859536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1328" y="41879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8"/>
          <p:cNvSpPr/>
          <p:nvPr/>
        </p:nvSpPr>
        <p:spPr>
          <a:xfrm>
            <a:off x="2057400" y="407822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Decentralised Social Media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057400" y="4443984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Fediverse (ActivityPub protocol) enables user-controlled algorithms. Structural alternative to engagement-maximising centralised AI emerges at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694944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100584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201168" y="1005840"/>
            <a:ext cx="283464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201168" y="1005840"/>
            <a:ext cx="2834640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207008" y="1133856"/>
            <a:ext cx="749808" cy="749808"/>
          </a:xfrm>
          <a:prstGeom prst="ellipse">
            <a:avLst/>
          </a:prstGeom>
          <a:solidFill>
            <a:srgbClr val="4361EE">
              <a:alpha val="20000"/>
            </a:srgbClr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4168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/>
          <p:nvPr/>
        </p:nvSpPr>
        <p:spPr>
          <a:xfrm>
            <a:off x="292608" y="19202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4361EE"/>
                </a:solidFill>
                <a:latin typeface="Arial Black"/>
                <a:ea typeface="Arial Black"/>
                <a:cs typeface="Arial Black"/>
                <a:sym typeface="Arial Black"/>
              </a:rPr>
              <a:t>FOR PLATFORMS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65760" y="2377440"/>
            <a:ext cx="128016" cy="128016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566928" y="2340864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Realign algorithms to user well-being metrics — not raw engagement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65760" y="3163824"/>
            <a:ext cx="128016" cy="128016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66928" y="31272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Mandatory public transparency reports on AI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65760" y="3950208"/>
            <a:ext cx="128016" cy="128016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566928" y="391363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Independent ethics boards with authority to halt harmful deployments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3172968" y="1005840"/>
            <a:ext cx="283464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172968" y="1005840"/>
            <a:ext cx="283464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178808" y="1133856"/>
            <a:ext cx="749808" cy="749808"/>
          </a:xfrm>
          <a:prstGeom prst="ellipse">
            <a:avLst/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/>
          <p:nvPr/>
        </p:nvSpPr>
        <p:spPr>
          <a:xfrm>
            <a:off x="3264408" y="19202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FOR GOVERNMENTS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337560" y="2377440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538728" y="2340864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Enact platform liability for foreseeable AI-enabled harms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337560" y="316382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538728" y="31272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Mandate interoperability to reduce monopoly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337560" y="3950208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3538728" y="391363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Fund independent research free from platform influence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144768" y="1005840"/>
            <a:ext cx="283464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144768" y="1005840"/>
            <a:ext cx="2834640" cy="64008"/>
          </a:xfrm>
          <a:prstGeom prst="rect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7150608" y="1133856"/>
            <a:ext cx="749808" cy="749808"/>
          </a:xfrm>
          <a:prstGeom prst="ellipse">
            <a:avLst/>
          </a:prstGeom>
          <a:solidFill>
            <a:srgbClr val="F4A026">
              <a:alpha val="20000"/>
            </a:srgbClr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7768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9"/>
          <p:cNvSpPr/>
          <p:nvPr/>
        </p:nvSpPr>
        <p:spPr>
          <a:xfrm>
            <a:off x="6236208" y="19202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02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4A026"/>
                </a:solidFill>
                <a:latin typeface="Arial Black"/>
                <a:ea typeface="Arial Black"/>
                <a:cs typeface="Arial Black"/>
                <a:sym typeface="Arial Black"/>
              </a:rPr>
              <a:t>FOR USERS &amp; SOCIETY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309360" y="2377440"/>
            <a:ext cx="128016" cy="128016"/>
          </a:xfrm>
          <a:prstGeom prst="ellipse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6510528" y="2340864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Invest in digital literacy — recognise and question AI-curated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309360" y="3163824"/>
            <a:ext cx="128016" cy="128016"/>
          </a:xfrm>
          <a:prstGeom prst="ellipse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510528" y="31272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Support open-source deepfake &amp; bot detection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309360" y="3950208"/>
            <a:ext cx="128016" cy="128016"/>
          </a:xfrm>
          <a:prstGeom prst="ellipse">
            <a:avLst/>
          </a:prstGeom>
          <a:solidFill>
            <a:srgbClr val="F4A026"/>
          </a:solidFill>
          <a:ln cap="flat" cmpd="sng" w="12700">
            <a:solidFill>
              <a:srgbClr val="F4A0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6510528" y="391363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Demand meaningful consent for AI-driven data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274320" y="4864608"/>
            <a:ext cx="74980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CASE STUDY: META PLATFORMS, INC.  |  AI ABUSE IN SOCIAL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863840" y="4864608"/>
            <a:ext cx="100584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0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4"/>
          </a:solidFill>
          <a:ln cap="flat" cmpd="sng" w="12700">
            <a:solidFill>
              <a:srgbClr val="0F0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41148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5623560" y="1965960"/>
            <a:ext cx="566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236208" y="20116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AI in social media delivers real benefits — but without ethical governance, it is a tool of harm at civilisational 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623560" y="2953512"/>
            <a:ext cx="566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236208" y="2999232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Meta’s case proves the market will not self-correct: internal evidence of harm was suppressed for profit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623560" y="3941064"/>
            <a:ext cx="566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236208" y="3986784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The solution is coordinated: platform reform, regulation, and an informed public demanding accountability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30352" y="228600"/>
            <a:ext cx="4663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 Black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 Black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CHOICE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 Black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 OURS.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30352" y="3108960"/>
            <a:ext cx="1828800" cy="3657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30352" y="320040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AI can build a better world — or tear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society apart. The difference lies 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E8EAF6"/>
                </a:solidFill>
                <a:latin typeface="Arial"/>
                <a:ea typeface="Arial"/>
                <a:cs typeface="Arial"/>
                <a:sym typeface="Arial"/>
              </a:rPr>
              <a:t>the choices we make today.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6060F"/>
          </a:solidFill>
          <a:ln cap="flat" cmpd="sng" w="12700">
            <a:solidFill>
              <a:srgbClr val="1E2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65760" y="4864608"/>
            <a:ext cx="841248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Stay informed. Stay critical. Demand accountability.  |  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2026-03-29T03:57:34Z</dcterms:created>
  <dc:creator>PptxGenJS</dc:creator>
</cp:coreProperties>
</file>