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Calibri"/>
              </a:rPr>
              <a:t>ExoNet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333333"/>
                </a:solidFill>
                <a:latin typeface="Calibri"/>
              </a:rPr>
              <a:t>Classifying Kepler exoplanet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Calibri"/>
              </a:rPr>
              <a:t>Trilok  -  Group 01 (solo)</a:t>
            </a:r>
          </a:p>
          <a:p>
            <a:pPr/>
            <a:r>
              <a:rPr sz="1800" b="0">
                <a:solidFill>
                  <a:srgbClr val="333333"/>
                </a:solidFill>
                <a:latin typeface="Calibri"/>
              </a:rPr>
              <a:t>ITAI 2372 Final Project, Implementation Track</a:t>
            </a:r>
          </a:p>
          <a:p>
            <a:pPr/>
            <a:r>
              <a:rPr sz="1800" b="0">
                <a:solidFill>
                  <a:srgbClr val="333333"/>
                </a:solidFill>
                <a:latin typeface="Calibri"/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Calibri"/>
              </a:rPr>
              <a:t>Kepler watched 150,000+ stars looking for transits.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It produced thousands of transit-like signals.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Each one needs to be vetted by hand: real planet, instrument noise, or eclipsing binary?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000" b="1">
                <a:solidFill>
                  <a:srgbClr val="1A1A1A"/>
                </a:solidFill>
                <a:latin typeface="Calibri"/>
              </a:rPr>
              <a:t>Vetting is slow expert work.</a:t>
            </a:r>
          </a:p>
          <a:p>
            <a:pPr/>
            <a:r>
              <a:rPr sz="2000" b="1">
                <a:solidFill>
                  <a:srgbClr val="1A1A1A"/>
                </a:solidFill>
                <a:latin typeface="Calibri"/>
              </a:rPr>
              <a:t>TESS keeps adding more candidates to the queue.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200" b="0">
                <a:solidFill>
                  <a:srgbClr val="333333"/>
                </a:solidFill>
                <a:latin typeface="Calibri"/>
              </a:rPr>
              <a:t>Question: can a small ML model do a good first-pass triage?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A supervised classifier: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Input: 10 features per candidate (orbit, planet, host star).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Output: CONFIRMED or FALSE POSITIVE, with a probability.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200" b="1">
                <a:solidFill>
                  <a:srgbClr val="1A1A1A"/>
                </a:solidFill>
                <a:latin typeface="Calibri"/>
              </a:rPr>
              <a:t>Delivered as a small Python CLI:</a:t>
            </a:r>
          </a:p>
          <a:p>
            <a:pPr/>
            <a:r>
              <a:rPr sz="1800" b="0">
                <a:solidFill>
                  <a:srgbClr val="1A1A1A"/>
                </a:solidFill>
                <a:latin typeface="Calibri"/>
              </a:rPr>
              <a:t>- python -m src.main train</a:t>
            </a:r>
          </a:p>
          <a:p>
            <a:pPr/>
            <a:r>
              <a:rPr sz="1800" b="0">
                <a:solidFill>
                  <a:srgbClr val="1A1A1A"/>
                </a:solidFill>
                <a:latin typeface="Calibri"/>
              </a:rPr>
              <a:t>- python -m src.main predict --koi-period ... (etc)</a:t>
            </a:r>
          </a:p>
          <a:p>
            <a:pPr/>
            <a:r>
              <a:rPr sz="1800" b="0">
                <a:solidFill>
                  <a:srgbClr val="1A1A1A"/>
                </a:solidFill>
                <a:latin typeface="Calibri"/>
              </a:rPr>
              <a:t>- pytest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Calibri"/>
              </a:rPr>
              <a:t>Source: NASA Exoplanet Archive, Kepler KOI cumulative table.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Initial size: about 9,500 KOIs.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After dropping CANDIDATE rows (label undecided): ~7,500 rows.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Roughly balanced between CONFIRMED and FALSE POSITIVE.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1800" b="0">
                <a:solidFill>
                  <a:srgbClr val="333333"/>
                </a:solidFill>
                <a:latin typeface="Calibri"/>
              </a:rPr>
              <a:t>Cached locally on first download.</a:t>
            </a:r>
          </a:p>
          <a:p>
            <a:pPr/>
            <a:r>
              <a:rPr sz="1800" b="0">
                <a:solidFill>
                  <a:srgbClr val="333333"/>
                </a:solidFill>
                <a:latin typeface="Calibri"/>
              </a:rPr>
              <a:t>Synthetic-data fallback if the archive is unreachable.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The 10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Orbit</a:t>
            </a:r>
          </a:p>
          <a:p>
            <a:pPr/>
            <a:r>
              <a:rPr sz="1800" b="0">
                <a:solidFill>
                  <a:srgbClr val="1A1A1A"/>
                </a:solidFill>
                <a:latin typeface="Calibri"/>
              </a:rPr>
              <a:t>- koi_period (days),  koi_duration (hr),  koi_depth (ppm)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200" b="1">
                <a:solidFill>
                  <a:srgbClr val="1A1A1A"/>
                </a:solidFill>
                <a:latin typeface="Calibri"/>
              </a:rPr>
              <a:t>Candidate planet</a:t>
            </a:r>
          </a:p>
          <a:p>
            <a:pPr/>
            <a:r>
              <a:rPr sz="1800" b="0">
                <a:solidFill>
                  <a:srgbClr val="1A1A1A"/>
                </a:solidFill>
                <a:latin typeface="Calibri"/>
              </a:rPr>
              <a:t>- koi_prad (Earth radii),  koi_teq (K),  koi_insol (Earth flux),  koi_model_snr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200" b="1">
                <a:solidFill>
                  <a:srgbClr val="1A1A1A"/>
                </a:solidFill>
                <a:latin typeface="Calibri"/>
              </a:rPr>
              <a:t>Host star</a:t>
            </a:r>
          </a:p>
          <a:p>
            <a:pPr/>
            <a:r>
              <a:rPr sz="1800" b="0">
                <a:solidFill>
                  <a:srgbClr val="1A1A1A"/>
                </a:solidFill>
                <a:latin typeface="Calibri"/>
              </a:rPr>
              <a:t>- koi_steff (K),  koi_slogg (log g),  koi_srad (solar radii)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1600" b="0">
                <a:solidFill>
                  <a:srgbClr val="333333"/>
                </a:solidFill>
                <a:latin typeface="Calibri"/>
              </a:rPr>
              <a:t>Picked these because (1) they are dense in the dataset and (2) they map to what astronomers actually look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A1A"/>
                </a:solidFill>
                <a:latin typeface="Calibri"/>
              </a:rPr>
              <a:t>1.  Load CSV from NASA archive (or cached copy).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2.  Coerce features to numeric, drop empty rows, median-impute NaNs.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3.  Drop CANDIDATE rows.  Map labels to 0 / 1.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4.  Stratified 80 / 20 train / test split (seed = 42).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5.  Fit RandomForestClassifier (300 trees, balanced weights).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6.  Score on test set, save model + metrics + confusion matrix.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Why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Calibri"/>
              </a:rPr>
              <a:t>Considered a small neural net first.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Decided against it because: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Dataset is small (~7,500 rows) and tabular.  Trees usually win at this scale.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Random Forest does not need feature scaling.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Gives feature importances I can talk about (coming up next).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Way easier to defend in a presentation.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1800" b="0">
                <a:solidFill>
                  <a:srgbClr val="333333"/>
                </a:solidFill>
                <a:latin typeface="Calibri"/>
              </a:rPr>
              <a:t>Future work: try XGBoost on the same split as a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Results on real Kepler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Test set size: 1,518 rows</a:t>
            </a:r>
          </a:p>
          <a:p>
            <a:pPr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Accuracy     0.926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Precision    0.883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Recall       0.918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F1           0.900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ROC-AUC      0.976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1800" b="0">
                <a:solidFill>
                  <a:srgbClr val="333333"/>
                </a:solidFill>
                <a:latin typeface="Calibri"/>
              </a:rPr>
              <a:t>Beat the success criteria from the proposal (&gt;=0.85 acc, &gt;=0.92 ROC-AUC).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23774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Calibri"/>
              </a:rPr>
              <a:t>Most errors are false positives flagged as confirmed (67 cases).</a:t>
            </a:r>
          </a:p>
          <a:p>
            <a:pPr/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1400" b="0">
                <a:solidFill>
                  <a:srgbClr val="333333"/>
                </a:solidFill>
                <a:latin typeface="Calibri"/>
              </a:rPr>
              <a:t>Could lower the decision threshold if precision matters more than recall for the use case.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Top features by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A1A1A"/>
                </a:solidFill>
                <a:latin typeface="Calibri"/>
              </a:rPr>
              <a:t>1.  koi_prad         (planetary radius)         0.231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2.  koi_model_snr    (transit signal-to-noise)  0.149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3.  koi_period      (orbital period)          0.128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4.  koi_depth       (transit depth, ppm)       0.101</a:t>
            </a:r>
          </a:p>
          <a:p>
            <a:pPr/>
            <a:r>
              <a:rPr sz="2200" b="0">
                <a:solidFill>
                  <a:srgbClr val="1A1A1A"/>
                </a:solidFill>
                <a:latin typeface="Calibri"/>
              </a:rPr>
              <a:t>5.  koi_insol       (insolation flux)          0.097</a:t>
            </a:r>
          </a:p>
          <a:p>
            <a:pPr/>
            <a:r>
              <a:rPr sz="1000" b="0">
                <a:solidFill>
                  <a:srgbClr val="1A1A1A"/>
                </a:solidFill>
                <a:latin typeface="Calibri"/>
              </a:rPr>
              <a:t/>
            </a:r>
          </a:p>
          <a:p>
            <a:pPr/>
            <a:r>
              <a:rPr sz="1600" b="0">
                <a:solidFill>
                  <a:srgbClr val="333333"/>
                </a:solidFill>
                <a:latin typeface="Calibri"/>
              </a:rPr>
              <a:t>These line up with what astronomers actually look at when triaging candidates by hand. That is a sanity check that the model has learned something reasonable, not a shortcut.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Calibri"/>
              </a:rPr>
              <a:t>What this project does not do (yet):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Only a single train/test split.  K-fold CV would give better confidence intervals.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Only a Random Forest baseline.  Worth comparing to XGBoost or LightGBM.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Trained only on Kepler data.  TESS uses similar features and would be the obvious next dataset.</a:t>
            </a:r>
          </a:p>
          <a:p>
            <a:pPr/>
            <a:r>
              <a:rPr sz="2000" b="0">
                <a:solidFill>
                  <a:srgbClr val="1A1A1A"/>
                </a:solidFill>
                <a:latin typeface="Calibri"/>
              </a:rPr>
              <a:t>- No web UI or hosted demo.  Just a CLI for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1A1A1A"/>
                </a:solidFill>
                <a:latin typeface="Calibri"/>
              </a:rPr>
              <a:t>Thanks! 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Calibri"/>
              </a:rPr>
              <a:t>Repo: FP_GROUP01_Trilok_ITAI2372</a:t>
            </a:r>
          </a:p>
          <a:p>
            <a:pPr/>
            <a:r>
              <a:rPr sz="2000" b="0">
                <a:solidFill>
                  <a:srgbClr val="333333"/>
                </a:solidFill>
                <a:latin typeface="Calibri"/>
              </a:rPr>
              <a:t>Run it: python -m src.main train</a:t>
            </a:r>
          </a:p>
          <a:p>
            <a:pPr/>
            <a:r>
              <a:rPr sz="2000" b="0">
                <a:solidFill>
                  <a:srgbClr val="333333"/>
                </a:solidFill>
                <a:latin typeface="Calibri"/>
              </a:rPr>
              <a:t>Data:  NASA Exoplanet Archive, Kepler KOI cumulative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ExoNet  -  ITAI 2372 Final Project  -  Trilok     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